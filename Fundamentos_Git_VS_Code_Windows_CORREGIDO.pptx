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36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B11D7C-44CD-46AF-B848-0DBED10578B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Abrir el tema aclarando que Git no es solo para programadores avanzados: es una herramienta para controlar cambios, colaborar y recuperar versiones.</a:t>
            </a:r>
          </a:p>
        </p:txBody>
      </p:sp>
      <p:sp>
        <p:nvSpPr>
          <p:cNvPr id="4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65DE5-C949-45C9-8B31-4D5D43372A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Usar esta diapositiva como mapa de la clase. El curso puede hacerse sin GitHub al inicio, porque el primer objetivo es comprender el flujo local.</a:t>
            </a:r>
          </a:p>
        </p:txBody>
      </p:sp>
      <p:sp>
        <p:nvSpPr>
          <p:cNvPr id="43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4ED448-FB4E-4EA4-AB45-542D4A5C01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C87ADF-37EB-41E2-8431-0A250380D1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06D1FA-907C-4CB8-AB57-3AF52E5939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F08BC4-C9B8-4505-8633-5484837DE5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0A8685-A5BD-4D0F-BB03-55CFCD4576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65DEBB-1728-4661-B296-F08DF01A5A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1651CA-BB74-48F9-90BC-9124C2F784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426D3-2346-45AD-8B06-8DCFC1B54E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0114AD-5A25-4434-AB50-726A2A8FC9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8DE893-36D3-4063-8836-365192410A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88CABF-0739-428B-A84E-2E2CF04672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2C3914-C76D-4F3E-9F28-15F11726F3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2F3BAC-F66A-4AD9-97D1-15E5699517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3F702-4260-434F-AD3A-D167A1E4A3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C95255-25B9-4C28-987E-C5EB62F159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26C458-88CE-4A60-A03A-800F4D2194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9CE741-38A5-43D5-B64D-B0F023EA6C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DA4BFC-EF5D-454A-B437-24E60C7198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AC510A-F39F-4299-9646-40757DBC05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94800" y="1298520"/>
            <a:ext cx="6537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7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Git desde cero</a:t>
            </a:r>
            <a:endParaRPr lang="en-US" sz="4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2130480"/>
            <a:ext cx="61261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AFC0D2"/>
                </a:solidFill>
                <a:effectLst/>
                <a:uFillTx/>
                <a:latin typeface="Aptos"/>
                <a:ea typeface="Aptos"/>
              </a:rPr>
              <a:t>Conceptos fundamentales, instalación en Windows y uso con Visual Studio Code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49880" y="2907720"/>
            <a:ext cx="2011320" cy="347040"/>
          </a:xfrm>
          <a:prstGeom prst="rect">
            <a:avLst/>
          </a:prstGeom>
          <a:solidFill>
            <a:srgbClr val="33D1C0"/>
          </a:solidFill>
          <a:ln w="0">
            <a:solidFill>
              <a:srgbClr val="33D1C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81826"/>
                </a:solidFill>
                <a:effectLst/>
                <a:uFillTx/>
                <a:latin typeface="Aptos"/>
                <a:ea typeface="Aptos"/>
              </a:rPr>
              <a:t>Curso introductorio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2944440" y="2907720"/>
            <a:ext cx="2121120" cy="347040"/>
          </a:xfrm>
          <a:prstGeom prst="rect">
            <a:avLst/>
          </a:prstGeom>
          <a:solidFill>
            <a:srgbClr val="8B8CFF"/>
          </a:solidFill>
          <a:ln w="0">
            <a:solidFill>
              <a:srgbClr val="8B8C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Windows + VS Code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7479720" y="4507920"/>
            <a:ext cx="3145320" cy="360"/>
          </a:xfrm>
          <a:prstGeom prst="line">
            <a:avLst/>
          </a:prstGeom>
          <a:ln w="1656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452360" y="4325040"/>
            <a:ext cx="383760" cy="383760"/>
          </a:xfrm>
          <a:prstGeom prst="ellipse">
            <a:avLst/>
          </a:prstGeom>
          <a:solidFill>
            <a:srgbClr val="33D1C0"/>
          </a:solidFill>
          <a:ln w="12600">
            <a:solidFill>
              <a:srgbClr val="33D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458200" y="4325040"/>
            <a:ext cx="383760" cy="383760"/>
          </a:xfrm>
          <a:prstGeom prst="ellipse">
            <a:avLst/>
          </a:prstGeom>
          <a:solidFill>
            <a:srgbClr val="33D1C0"/>
          </a:solidFill>
          <a:ln w="12600">
            <a:solidFill>
              <a:srgbClr val="33D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9464040" y="4325040"/>
            <a:ext cx="383760" cy="383760"/>
          </a:xfrm>
          <a:prstGeom prst="ellipse">
            <a:avLst/>
          </a:prstGeom>
          <a:solidFill>
            <a:srgbClr val="33D1C0"/>
          </a:solidFill>
          <a:ln w="12600">
            <a:solidFill>
              <a:srgbClr val="33D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10469880" y="4325040"/>
            <a:ext cx="383760" cy="383760"/>
          </a:xfrm>
          <a:prstGeom prst="ellipse">
            <a:avLst/>
          </a:prstGeom>
          <a:solidFill>
            <a:srgbClr val="B5E853"/>
          </a:solidFill>
          <a:ln w="12600">
            <a:solidFill>
              <a:srgbClr val="B5E85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360920" y="1920240"/>
            <a:ext cx="1316520" cy="749520"/>
          </a:xfrm>
          <a:prstGeom prst="rect">
            <a:avLst/>
          </a:prstGeom>
          <a:solidFill>
            <a:srgbClr val="123A56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Working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Directory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9015840" y="2615040"/>
            <a:ext cx="1316520" cy="749520"/>
          </a:xfrm>
          <a:prstGeom prst="rect">
            <a:avLst/>
          </a:prstGeom>
          <a:solidFill>
            <a:srgbClr val="123A56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Staging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Area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0241280" y="1783080"/>
            <a:ext cx="1023840" cy="639720"/>
          </a:xfrm>
          <a:prstGeom prst="rect">
            <a:avLst/>
          </a:prstGeom>
          <a:solidFill>
            <a:srgbClr val="123A56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8741520" y="2359080"/>
            <a:ext cx="182880" cy="402120"/>
          </a:xfrm>
          <a:prstGeom prst="line">
            <a:avLst/>
          </a:prstGeom>
          <a:ln w="15120">
            <a:solidFill>
              <a:srgbClr val="64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 flipH="1" flipV="1">
            <a:off x="9966960" y="2377440"/>
            <a:ext cx="255960" cy="237600"/>
          </a:xfrm>
          <a:prstGeom prst="line">
            <a:avLst/>
          </a:prstGeom>
          <a:ln w="15120">
            <a:solidFill>
              <a:srgbClr val="64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749880" y="5349240"/>
            <a:ext cx="6674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Objetivo: que los participantes entiendan qué hace Git antes de memorizar comandos.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TEMA 1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Meta de la sesión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621720" y="138996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Al finalizar, cada participante debe poder explicar y ejecutar el flujo básico de Git.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713160" y="2148840"/>
            <a:ext cx="438480" cy="438480"/>
          </a:xfrm>
          <a:prstGeom prst="rect">
            <a:avLst/>
          </a:prstGeom>
          <a:solidFill>
            <a:srgbClr val="33D1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81826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713160" y="27615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Instalar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13160" y="3200400"/>
            <a:ext cx="22672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Git debe estar disponible para VS Code y terminal.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3547800" y="2148840"/>
            <a:ext cx="438480" cy="438480"/>
          </a:xfrm>
          <a:prstGeom prst="rect">
            <a:avLst/>
          </a:prstGeom>
          <a:solidFill>
            <a:srgbClr val="8B8C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81826"/>
                </a:solidFill>
                <a:effectLst/>
                <a:uFillTx/>
                <a:latin typeface="Aptos Display"/>
                <a:ea typeface="Aptos Display"/>
              </a:rPr>
              <a:t>2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3547800" y="27615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Configurar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3547800" y="3200400"/>
            <a:ext cx="22672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Nombre y correo del autor de los commits.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6382440" y="2148840"/>
            <a:ext cx="438480" cy="438480"/>
          </a:xfrm>
          <a:prstGeom prst="rect">
            <a:avLst/>
          </a:prstGeom>
          <a:solidFill>
            <a:srgbClr val="FFB45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81826"/>
                </a:solidFill>
                <a:effectLst/>
                <a:uFillTx/>
                <a:latin typeface="Aptos Display"/>
                <a:ea typeface="Aptos Display"/>
              </a:rPr>
              <a:t>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6382440" y="27615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Entender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6382440" y="3200400"/>
            <a:ext cx="22672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Working directory, staging area y commit.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9217080" y="2148840"/>
            <a:ext cx="438480" cy="438480"/>
          </a:xfrm>
          <a:prstGeom prst="rect">
            <a:avLst/>
          </a:prstGeom>
          <a:solidFill>
            <a:srgbClr val="B5E85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81826"/>
                </a:solidFill>
                <a:effectLst/>
                <a:uFillTx/>
                <a:latin typeface="Aptos Display"/>
                <a:ea typeface="Aptos Display"/>
              </a:rPr>
              <a:t>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9217080" y="27615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Practicar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9217080" y="3200400"/>
            <a:ext cx="22672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Crear un repositorio local y dos commits.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8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CONTEXTO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El problema que Git resuelve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31080" y="1316880"/>
            <a:ext cx="56689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Sin control de versiones, el historial vive en nombres de carpetas, copias manuales y memoria humana.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777240" y="2121480"/>
            <a:ext cx="1938240" cy="347040"/>
          </a:xfrm>
          <a:prstGeom prst="rect">
            <a:avLst/>
          </a:prstGeom>
          <a:solidFill>
            <a:srgbClr val="163A5C"/>
          </a:solidFill>
          <a:ln w="0">
            <a:solidFill>
              <a:srgbClr val="163A5C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proyecto_final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3017520" y="2121480"/>
            <a:ext cx="1938240" cy="347040"/>
          </a:xfrm>
          <a:prstGeom prst="rect">
            <a:avLst/>
          </a:prstGeom>
          <a:solidFill>
            <a:srgbClr val="163A5C"/>
          </a:solidFill>
          <a:ln w="0">
            <a:solidFill>
              <a:srgbClr val="163A5C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proyecto_final_v2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77240" y="2743200"/>
            <a:ext cx="1938240" cy="34704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proyecto_final_ahora_si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3017520" y="2743200"/>
            <a:ext cx="1938240" cy="347040"/>
          </a:xfrm>
          <a:prstGeom prst="rect">
            <a:avLst/>
          </a:prstGeom>
          <a:solidFill>
            <a:srgbClr val="163A5C"/>
          </a:solidFill>
          <a:ln w="0">
            <a:solidFill>
              <a:srgbClr val="163A5C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backup_lunes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777240" y="17920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Copias manuales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5504400" y="2743200"/>
            <a:ext cx="1097280" cy="360"/>
          </a:xfrm>
          <a:prstGeom prst="line">
            <a:avLst/>
          </a:prstGeom>
          <a:ln w="23040">
            <a:solidFill>
              <a:srgbClr val="FFB45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6995160" y="1874520"/>
            <a:ext cx="1078560" cy="502560"/>
          </a:xfrm>
          <a:prstGeom prst="rect">
            <a:avLst/>
          </a:prstGeom>
          <a:solidFill>
            <a:srgbClr val="11354F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 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8256960" y="2514600"/>
            <a:ext cx="1078560" cy="502560"/>
          </a:xfrm>
          <a:prstGeom prst="rect">
            <a:avLst/>
          </a:prstGeom>
          <a:solidFill>
            <a:srgbClr val="11354F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 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9528120" y="1874520"/>
            <a:ext cx="1078560" cy="502560"/>
          </a:xfrm>
          <a:prstGeom prst="rect">
            <a:avLst/>
          </a:prstGeom>
          <a:solidFill>
            <a:srgbClr val="11354F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 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2"/>
          <p:cNvSpPr/>
          <p:nvPr/>
        </p:nvSpPr>
        <p:spPr>
          <a:xfrm>
            <a:off x="8138160" y="2148840"/>
            <a:ext cx="73080" cy="393120"/>
          </a:xfrm>
          <a:prstGeom prst="line">
            <a:avLst/>
          </a:prstGeom>
          <a:ln w="1512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 flipV="1">
            <a:off x="9390600" y="2148840"/>
            <a:ext cx="82440" cy="393120"/>
          </a:xfrm>
          <a:prstGeom prst="line">
            <a:avLst/>
          </a:prstGeom>
          <a:ln w="1512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6995160" y="14814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3D1C0"/>
                </a:solidFill>
                <a:effectLst/>
                <a:uFillTx/>
                <a:latin typeface="Aptos"/>
              </a:rPr>
              <a:t>Historial explícito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7059240" y="38131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7360920" y="3794760"/>
            <a:ext cx="3264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Qué cambió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7059240" y="42152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7360920" y="4197240"/>
            <a:ext cx="3264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Quién lo cambió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7059240" y="46177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7360920" y="4599360"/>
            <a:ext cx="3264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Cuándo cambió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7059240" y="50202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7360920" y="5001840"/>
            <a:ext cx="3264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Por qué cambió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6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CONCEPTOS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Git, GitHub y VS Code no son lo mismo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749880" y="18655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3D1C0"/>
                </a:solidFill>
                <a:effectLst/>
                <a:uFillTx/>
                <a:latin typeface="Aptos Display"/>
                <a:ea typeface="Aptos Display"/>
              </a:rPr>
              <a:t>Git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749880" y="245052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Motor de control de versiones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749880" y="2935080"/>
            <a:ext cx="297144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Corre en la computadora. Guarda historial, ramas y commits.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4517280" y="18655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5E853"/>
                </a:solidFill>
                <a:effectLst/>
                <a:uFillTx/>
                <a:latin typeface="Aptos Display"/>
                <a:ea typeface="Aptos Display"/>
              </a:rPr>
              <a:t>GitHub / Azure DevOps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517280" y="245052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Servidor remoto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517280" y="2935080"/>
            <a:ext cx="297144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Permite compartir repositorios, revisar cambios y colaborar.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8284320" y="18655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8B8CFF"/>
                </a:solidFill>
                <a:effectLst/>
                <a:uFillTx/>
                <a:latin typeface="Aptos Display"/>
                <a:ea typeface="Aptos Display"/>
              </a:rPr>
              <a:t>VS Code o GitHub Desktop</a:t>
            </a:r>
            <a:endParaRPr lang="en-US" sz="2600" dirty="0">
              <a:solidFill>
                <a:srgbClr val="FFFFFF"/>
              </a:solidFill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8284320" y="245052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Editor e interfaz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8284320" y="2935080"/>
            <a:ext cx="297144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Muestra cambios y ejecuta operaciones Git desde Source Control.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2395440" y="4846320"/>
            <a:ext cx="3118320" cy="360"/>
          </a:xfrm>
          <a:prstGeom prst="line">
            <a:avLst/>
          </a:prstGeom>
          <a:ln w="1764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6537960" y="4846320"/>
            <a:ext cx="3108960" cy="360"/>
          </a:xfrm>
          <a:prstGeom prst="line">
            <a:avLst/>
          </a:prstGeom>
          <a:ln w="1764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1280160" y="4498920"/>
            <a:ext cx="155412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Cambios locales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5468040" y="4498920"/>
            <a:ext cx="117000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9646920" y="4498920"/>
            <a:ext cx="123408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Remoto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749880" y="5486400"/>
            <a:ext cx="6126120" cy="42012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8B8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VS Code no sustituye a Git. VS Code usa Git instalado en Windows.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CONCEPTOS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Repositorio: carpeta + historial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621720" y="1307520"/>
            <a:ext cx="6491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Un repositorio es una carpeta administrada por Git.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841320" y="2148840"/>
            <a:ext cx="2834280" cy="1554120"/>
          </a:xfrm>
          <a:prstGeom prst="rect">
            <a:avLst/>
          </a:prstGeom>
          <a:solidFill>
            <a:srgbClr val="102A43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carpeta del proyecto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README.md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app.js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styles.css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4590360" y="2148840"/>
            <a:ext cx="2331360" cy="1554120"/>
          </a:xfrm>
          <a:prstGeom prst="rect">
            <a:avLst/>
          </a:prstGeom>
          <a:solidFill>
            <a:srgbClr val="102A43"/>
          </a:solidFill>
          <a:ln w="1404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.git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historial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ramas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configuración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8458200" y="2148840"/>
            <a:ext cx="2057040" cy="1554120"/>
          </a:xfrm>
          <a:prstGeom prst="rect">
            <a:avLst/>
          </a:prstGeom>
          <a:solidFill>
            <a:srgbClr val="102A43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repositorio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local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3767040" y="2926080"/>
            <a:ext cx="768240" cy="360"/>
          </a:xfrm>
          <a:prstGeom prst="line">
            <a:avLst/>
          </a:prstGeom>
          <a:ln w="1764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6985800" y="2926080"/>
            <a:ext cx="1389960" cy="360"/>
          </a:xfrm>
          <a:prstGeom prst="line">
            <a:avLst/>
          </a:prstGeom>
          <a:ln w="1764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877680" y="46087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1179720" y="4590360"/>
            <a:ext cx="5550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Los archivos visibles son el trabajo actual.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877680" y="50292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1179720" y="5010840"/>
            <a:ext cx="5550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La carpeta .git guarda la memoria técnica del proyecto.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877680" y="54496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1179720" y="5431680"/>
            <a:ext cx="5550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Normalmente no se edita .git manualmente.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7406640" y="4608720"/>
            <a:ext cx="3382920" cy="69444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Si se elimina .git, la carpeta sigue existiendo, pero deja de ser un repositorio Git.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WORKING → STAGE → COMMIT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El modelo mental clave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621720" y="130752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Git no guarda automáticamente cada vez que usted presiona Ctrl+S. Usted decide qué entra al próximo commit.</a:t>
            </a:r>
            <a:endParaRPr lang="en-US" sz="1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3154680" y="3063240"/>
            <a:ext cx="1143000" cy="360"/>
          </a:xfrm>
          <a:prstGeom prst="line">
            <a:avLst/>
          </a:prstGeom>
          <a:ln w="2304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6629400" y="3063240"/>
            <a:ext cx="1069560" cy="360"/>
          </a:xfrm>
          <a:prstGeom prst="line">
            <a:avLst/>
          </a:prstGeom>
          <a:ln w="2304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713160" y="2487240"/>
            <a:ext cx="2395440" cy="1124280"/>
          </a:xfrm>
          <a:prstGeom prst="rect">
            <a:avLst/>
          </a:prstGeom>
          <a:solidFill>
            <a:srgbClr val="0F3552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Working Directory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archivos editados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4370760" y="2487240"/>
            <a:ext cx="2395440" cy="1124280"/>
          </a:xfrm>
          <a:prstGeom prst="rect">
            <a:avLst/>
          </a:prstGeom>
          <a:solidFill>
            <a:srgbClr val="0F3552"/>
          </a:solidFill>
          <a:ln w="14040">
            <a:solidFill>
              <a:srgbClr val="FFB4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Staging Area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cambios seleccionados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7818120" y="2487240"/>
            <a:ext cx="2395440" cy="1124280"/>
          </a:xfrm>
          <a:prstGeom prst="rect">
            <a:avLst/>
          </a:prstGeom>
          <a:solidFill>
            <a:srgbClr val="0F3552"/>
          </a:solidFill>
          <a:ln w="1404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fotografía permanente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3337560" y="2670120"/>
            <a:ext cx="749520" cy="282960"/>
          </a:xfrm>
          <a:prstGeom prst="rect">
            <a:avLst/>
          </a:prstGeom>
          <a:solidFill>
            <a:srgbClr val="33D1C0"/>
          </a:solidFill>
          <a:ln w="0">
            <a:solidFill>
              <a:srgbClr val="33D1C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81826"/>
                </a:solidFill>
                <a:effectLst/>
                <a:uFillTx/>
                <a:latin typeface="Aptos"/>
                <a:ea typeface="Aptos"/>
              </a:rPr>
              <a:t>git add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6821280" y="2670120"/>
            <a:ext cx="959760" cy="282960"/>
          </a:xfrm>
          <a:prstGeom prst="rect">
            <a:avLst/>
          </a:prstGeom>
          <a:solidFill>
            <a:srgbClr val="33D1C0"/>
          </a:solidFill>
          <a:ln w="0">
            <a:solidFill>
              <a:srgbClr val="33D1C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81826"/>
                </a:solidFill>
                <a:effectLst/>
                <a:uFillTx/>
                <a:latin typeface="Aptos"/>
                <a:ea typeface="Aptos"/>
              </a:rPr>
              <a:t>git commit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777240" y="47001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1078920" y="4681800"/>
            <a:ext cx="5092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Guardar archivo ≠ commit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777240" y="51206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1078920" y="5102280"/>
            <a:ext cx="5092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Stage permite seleccionar solo los cambios correctos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777240" y="55411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1078920" y="5523120"/>
            <a:ext cx="5092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 debe representar una unidad lógica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6876360" y="4526280"/>
            <a:ext cx="4041360" cy="87732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status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add README.md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commit -m "Agrega README inicial"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9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PREPARACIÓN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Instalar Git en Windows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621720" y="129852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VS Code tiene soporte Git integrado, pero necesita que Git esté instalado en Windows.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786240" y="2057400"/>
            <a:ext cx="383760" cy="383760"/>
          </a:xfrm>
          <a:prstGeom prst="rect">
            <a:avLst/>
          </a:prstGeom>
          <a:solidFill>
            <a:srgbClr val="33D1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1826"/>
                </a:solidFill>
                <a:effectLst/>
                <a:uFillTx/>
                <a:latin typeface="Aptos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1417320" y="203904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Verificar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3520440" y="205740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FC0D2"/>
                </a:solidFill>
                <a:effectLst/>
                <a:uFillTx/>
                <a:latin typeface="Cascadia Mono"/>
                <a:ea typeface="Cascadia Mono"/>
              </a:rPr>
              <a:t>git --version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786240" y="2825640"/>
            <a:ext cx="383760" cy="383760"/>
          </a:xfrm>
          <a:prstGeom prst="rect">
            <a:avLst/>
          </a:prstGeom>
          <a:solidFill>
            <a:srgbClr val="B5E85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1826"/>
                </a:solidFill>
                <a:effectLst/>
                <a:uFillTx/>
                <a:latin typeface="Aptos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1417320" y="280728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Descargar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3520440" y="282564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FC0D2"/>
                </a:solidFill>
                <a:effectLst/>
                <a:uFillTx/>
                <a:latin typeface="Aptos"/>
                <a:ea typeface="Aptos"/>
              </a:rPr>
              <a:t>git-scm.com/install/windows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786240" y="3593520"/>
            <a:ext cx="383760" cy="383760"/>
          </a:xfrm>
          <a:prstGeom prst="rect">
            <a:avLst/>
          </a:prstGeom>
          <a:solidFill>
            <a:srgbClr val="FFB45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1826"/>
                </a:solidFill>
                <a:effectLst/>
                <a:uFillTx/>
                <a:latin typeface="Aptos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1417320" y="357516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Instalar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3520440" y="359352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FC0D2"/>
                </a:solidFill>
                <a:effectLst/>
                <a:uFillTx/>
                <a:latin typeface="Aptos"/>
                <a:ea typeface="Aptos"/>
              </a:rPr>
              <a:t>usar opciones predeterminadas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786240" y="4361760"/>
            <a:ext cx="383760" cy="383760"/>
          </a:xfrm>
          <a:prstGeom prst="rect">
            <a:avLst/>
          </a:prstGeom>
          <a:solidFill>
            <a:srgbClr val="8B8C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1826"/>
                </a:solidFill>
                <a:effectLst/>
                <a:uFillTx/>
                <a:latin typeface="Aptos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1417320" y="434340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Reabrir VS Code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3520440" y="436176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FC0D2"/>
                </a:solidFill>
                <a:effectLst/>
                <a:uFillTx/>
                <a:latin typeface="Aptos"/>
                <a:ea typeface="Aptos"/>
              </a:rPr>
              <a:t>probar desde la terminal integrada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8549640" y="2340720"/>
            <a:ext cx="2212560" cy="43848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--version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8558640" y="3127320"/>
            <a:ext cx="2422800" cy="133452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FFB4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Durante la instalación, mantener PATH recomendado y Git Credential Manager. Para principiantes, las opciones predeterminadas son suficientes.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PRIMERA CONFIGURACIÓN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Configurar el autor de los commits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621720" y="129852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Cada commit registra nombre y correo. Configúrelos una vez por usuario de Windows.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841320" y="1993320"/>
            <a:ext cx="6674760" cy="80424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config --global user.name "Su Nombre"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config --global user.email "correo@ejemplo.com"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841320" y="3246120"/>
            <a:ext cx="6674760" cy="98712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config --global --list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config --global user.name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config --global user.email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8412480" y="1847160"/>
            <a:ext cx="123408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Autor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9015840" y="2441160"/>
            <a:ext cx="360" cy="850680"/>
          </a:xfrm>
          <a:prstGeom prst="line">
            <a:avLst/>
          </a:prstGeom>
          <a:ln w="17640">
            <a:solidFill>
              <a:srgbClr val="64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8412480" y="3401640"/>
            <a:ext cx="123408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8"/>
          <p:cNvSpPr/>
          <p:nvPr/>
        </p:nvSpPr>
        <p:spPr>
          <a:xfrm>
            <a:off x="9646920" y="3684960"/>
            <a:ext cx="740520" cy="360"/>
          </a:xfrm>
          <a:prstGeom prst="line">
            <a:avLst/>
          </a:prstGeom>
          <a:ln w="17640">
            <a:solidFill>
              <a:srgbClr val="64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10442520" y="3401640"/>
            <a:ext cx="123408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FFB4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Historial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8156520" y="4709160"/>
            <a:ext cx="3071880" cy="74952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El correo puede ser corporativo, personal o el definido por la organización. Lo importante es que identifique al autor.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2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3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INTERFAZ PRINCIPAL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Source Control en VS Code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621720" y="1298520"/>
            <a:ext cx="67662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La vista Source Control traduce operaciones Git a una interfaz visual.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887040" y="194760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B8CFF"/>
                </a:solidFill>
                <a:effectLst/>
                <a:uFillTx/>
                <a:latin typeface="Aptos"/>
                <a:ea typeface="Aptos"/>
              </a:rPr>
              <a:t>SOURCE CONTROL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877680" y="2221920"/>
            <a:ext cx="3337200" cy="676440"/>
          </a:xfrm>
          <a:prstGeom prst="rect">
            <a:avLst/>
          </a:prstGeom>
          <a:solidFill>
            <a:srgbClr val="102A43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Message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Agrega README inicial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877680" y="3108960"/>
            <a:ext cx="3337200" cy="603000"/>
          </a:xfrm>
          <a:prstGeom prst="rect">
            <a:avLst/>
          </a:prstGeom>
          <a:solidFill>
            <a:srgbClr val="102A43"/>
          </a:solidFill>
          <a:ln w="1260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Staged Changes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README.md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877680" y="3931920"/>
            <a:ext cx="3337200" cy="785880"/>
          </a:xfrm>
          <a:prstGeom prst="rect">
            <a:avLst/>
          </a:prstGeom>
          <a:solidFill>
            <a:srgbClr val="102A43"/>
          </a:solidFill>
          <a:ln w="12600">
            <a:solidFill>
              <a:srgbClr val="FFB4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Changes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app.js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styles.css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5532120" y="22312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8B8C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5833800" y="2212920"/>
            <a:ext cx="4910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Changes: archivos modificados todavía no seleccionados.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5532120" y="27342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8B8C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5833800" y="2715840"/>
            <a:ext cx="4910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Staged Changes: cambios que sí entrarán al commit.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5532120" y="32371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8B8C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5833800" y="3218760"/>
            <a:ext cx="4910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Diff Editor: compara antes/después.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5532120" y="37400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8B8C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5833800" y="3721680"/>
            <a:ext cx="4910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Status Bar: muestra rama y sincronización.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5559480" y="4983480"/>
            <a:ext cx="2815920" cy="43848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8B8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Ctrl+Shift+G abre Source Control.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8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PRÁCTICA GUIADA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Laboratorio 1: repositorio local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621720" y="129852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No requiere GitHub. El objetivo es entender el flujo local.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749880" y="1956960"/>
            <a:ext cx="2358720" cy="493560"/>
          </a:xfrm>
          <a:prstGeom prst="rect">
            <a:avLst/>
          </a:prstGeom>
          <a:solidFill>
            <a:srgbClr val="123A56"/>
          </a:solidFill>
          <a:ln w="0">
            <a:solidFill>
              <a:srgbClr val="123A56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1. Crear carpeta curso-git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3538800" y="1956960"/>
            <a:ext cx="2358720" cy="493560"/>
          </a:xfrm>
          <a:prstGeom prst="rect">
            <a:avLst/>
          </a:prstGeom>
          <a:solidFill>
            <a:srgbClr val="123A56"/>
          </a:solidFill>
          <a:ln w="0">
            <a:solidFill>
              <a:srgbClr val="123A56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2. Open Folder en VS Code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6327720" y="1956960"/>
            <a:ext cx="2358720" cy="493560"/>
          </a:xfrm>
          <a:prstGeom prst="rect">
            <a:avLst/>
          </a:prstGeom>
          <a:solidFill>
            <a:srgbClr val="123A56"/>
          </a:solidFill>
          <a:ln w="0">
            <a:solidFill>
              <a:srgbClr val="123A56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3. Initialize Repository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9116640" y="1956960"/>
            <a:ext cx="2358720" cy="493560"/>
          </a:xfrm>
          <a:prstGeom prst="rect">
            <a:avLst/>
          </a:prstGeom>
          <a:solidFill>
            <a:srgbClr val="123A56"/>
          </a:solidFill>
          <a:ln w="0">
            <a:solidFill>
              <a:srgbClr val="123A56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4. Crear README.md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749880" y="3099960"/>
            <a:ext cx="2358720" cy="49356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5. Revisar diff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3538800" y="3099960"/>
            <a:ext cx="2358720" cy="49356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6. Stage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6327720" y="3099960"/>
            <a:ext cx="2358720" cy="49356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7. Commit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9116640" y="3099960"/>
            <a:ext cx="2358720" cy="49356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8. Ver historial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3218400" y="2203560"/>
            <a:ext cx="274320" cy="360"/>
          </a:xfrm>
          <a:prstGeom prst="line">
            <a:avLst/>
          </a:prstGeom>
          <a:ln w="1404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2"/>
          <p:cNvSpPr/>
          <p:nvPr/>
        </p:nvSpPr>
        <p:spPr>
          <a:xfrm>
            <a:off x="6007320" y="2203560"/>
            <a:ext cx="274320" cy="360"/>
          </a:xfrm>
          <a:prstGeom prst="line">
            <a:avLst/>
          </a:prstGeom>
          <a:ln w="1404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3"/>
          <p:cNvSpPr/>
          <p:nvPr/>
        </p:nvSpPr>
        <p:spPr>
          <a:xfrm>
            <a:off x="8796240" y="2203560"/>
            <a:ext cx="274320" cy="360"/>
          </a:xfrm>
          <a:prstGeom prst="line">
            <a:avLst/>
          </a:prstGeom>
          <a:ln w="1404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4"/>
          <p:cNvSpPr/>
          <p:nvPr/>
        </p:nvSpPr>
        <p:spPr>
          <a:xfrm>
            <a:off x="3218400" y="3346560"/>
            <a:ext cx="274320" cy="360"/>
          </a:xfrm>
          <a:prstGeom prst="line">
            <a:avLst/>
          </a:prstGeom>
          <a:ln w="1404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5"/>
          <p:cNvSpPr/>
          <p:nvPr/>
        </p:nvSpPr>
        <p:spPr>
          <a:xfrm>
            <a:off x="6007320" y="3346560"/>
            <a:ext cx="274320" cy="360"/>
          </a:xfrm>
          <a:prstGeom prst="line">
            <a:avLst/>
          </a:prstGeom>
          <a:ln w="1404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6"/>
          <p:cNvSpPr/>
          <p:nvPr/>
        </p:nvSpPr>
        <p:spPr>
          <a:xfrm>
            <a:off x="8796240" y="3346560"/>
            <a:ext cx="274320" cy="360"/>
          </a:xfrm>
          <a:prstGeom prst="line">
            <a:avLst/>
          </a:prstGeom>
          <a:ln w="1404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7"/>
          <p:cNvSpPr/>
          <p:nvPr/>
        </p:nvSpPr>
        <p:spPr>
          <a:xfrm>
            <a:off x="914400" y="4681800"/>
            <a:ext cx="5806080" cy="71280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Commit 1: Agrega README inicial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Commit 2: Actualiza descripción del proyecto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8"/>
          <p:cNvSpPr/>
          <p:nvPr/>
        </p:nvSpPr>
        <p:spPr>
          <a:xfrm>
            <a:off x="7452360" y="4718160"/>
            <a:ext cx="2880000" cy="49356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Insistir en revisar el diff antes de hacer commit.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0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1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VS CODE + COMANDOS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La terminal muestra lo mismo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621720" y="1298520"/>
            <a:ext cx="7863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Usar VS Code no elimina los conceptos. Solo cambia la forma de ejecutarlos.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868680" y="1938600"/>
            <a:ext cx="5230080" cy="242280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mkdir curso-git</a:t>
            </a:r>
            <a:endParaRPr lang="en-US" sz="13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cd curso-git</a:t>
            </a:r>
            <a:endParaRPr lang="en-US" sz="13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init</a:t>
            </a:r>
            <a:endParaRPr lang="en-US" sz="13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status</a:t>
            </a:r>
            <a:endParaRPr lang="en-US" sz="13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add README.md</a:t>
            </a:r>
            <a:endParaRPr lang="en-US" sz="13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commit -m "Agrega README inicial"</a:t>
            </a:r>
            <a:endParaRPr lang="en-US" sz="13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log --oneline</a:t>
            </a:r>
            <a:endParaRPr lang="en-US" sz="13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6903720" y="1993320"/>
            <a:ext cx="1965600" cy="383760"/>
          </a:xfrm>
          <a:prstGeom prst="rect">
            <a:avLst/>
          </a:prstGeom>
          <a:solidFill>
            <a:srgbClr val="102A43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Initialize Repository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8988480" y="2176200"/>
            <a:ext cx="567000" cy="360"/>
          </a:xfrm>
          <a:prstGeom prst="line">
            <a:avLst/>
          </a:prstGeom>
          <a:ln w="1260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9628560" y="1993320"/>
            <a:ext cx="1325520" cy="383760"/>
          </a:xfrm>
          <a:prstGeom prst="rect">
            <a:avLst/>
          </a:prstGeom>
          <a:solidFill>
            <a:srgbClr val="07111C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 init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6903720" y="2615040"/>
            <a:ext cx="1965600" cy="383760"/>
          </a:xfrm>
          <a:prstGeom prst="rect">
            <a:avLst/>
          </a:prstGeom>
          <a:solidFill>
            <a:srgbClr val="102A43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Stage Changes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8988480" y="2797920"/>
            <a:ext cx="567000" cy="360"/>
          </a:xfrm>
          <a:prstGeom prst="line">
            <a:avLst/>
          </a:prstGeom>
          <a:ln w="1260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9628560" y="2615040"/>
            <a:ext cx="1325520" cy="383760"/>
          </a:xfrm>
          <a:prstGeom prst="rect">
            <a:avLst/>
          </a:prstGeom>
          <a:solidFill>
            <a:srgbClr val="07111C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 add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6903720" y="3237120"/>
            <a:ext cx="1965600" cy="383760"/>
          </a:xfrm>
          <a:prstGeom prst="rect">
            <a:avLst/>
          </a:prstGeom>
          <a:solidFill>
            <a:srgbClr val="102A43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8988480" y="3419640"/>
            <a:ext cx="567000" cy="360"/>
          </a:xfrm>
          <a:prstGeom prst="line">
            <a:avLst/>
          </a:prstGeom>
          <a:ln w="1260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9628560" y="3237120"/>
            <a:ext cx="1325520" cy="383760"/>
          </a:xfrm>
          <a:prstGeom prst="rect">
            <a:avLst/>
          </a:prstGeom>
          <a:solidFill>
            <a:srgbClr val="07111C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 commit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6903720" y="3858840"/>
            <a:ext cx="1965600" cy="383760"/>
          </a:xfrm>
          <a:prstGeom prst="rect">
            <a:avLst/>
          </a:prstGeom>
          <a:solidFill>
            <a:srgbClr val="102A43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History / Graph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8988480" y="4041360"/>
            <a:ext cx="567000" cy="360"/>
          </a:xfrm>
          <a:prstGeom prst="line">
            <a:avLst/>
          </a:prstGeom>
          <a:ln w="1260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9628560" y="3858840"/>
            <a:ext cx="1325520" cy="383760"/>
          </a:xfrm>
          <a:prstGeom prst="rect">
            <a:avLst/>
          </a:prstGeom>
          <a:solidFill>
            <a:srgbClr val="07111C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 log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6903720" y="4846320"/>
            <a:ext cx="4041360" cy="48420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 status es el primer comando de diagnóstico para principiantes.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7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9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BRANCHING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Ramas: líneas de trabajo independientes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621720" y="129852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Una rama permite trabajar en un cambio sin tocar directamente la línea principal.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3"/>
          <p:cNvSpPr/>
          <p:nvPr/>
        </p:nvSpPr>
        <p:spPr>
          <a:xfrm>
            <a:off x="1097280" y="2788920"/>
            <a:ext cx="3200400" cy="360"/>
          </a:xfrm>
          <a:prstGeom prst="line">
            <a:avLst/>
          </a:prstGeom>
          <a:ln w="15120">
            <a:solidFill>
              <a:srgbClr val="33D1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 flipV="1">
            <a:off x="2816280" y="1901880"/>
            <a:ext cx="978480" cy="887040"/>
          </a:xfrm>
          <a:prstGeom prst="line">
            <a:avLst/>
          </a:prstGeom>
          <a:ln w="15120">
            <a:solidFill>
              <a:srgbClr val="FFB45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5"/>
          <p:cNvSpPr/>
          <p:nvPr/>
        </p:nvSpPr>
        <p:spPr>
          <a:xfrm>
            <a:off x="4132800" y="1901880"/>
            <a:ext cx="548640" cy="360"/>
          </a:xfrm>
          <a:prstGeom prst="line">
            <a:avLst/>
          </a:prstGeom>
          <a:ln w="15120">
            <a:solidFill>
              <a:srgbClr val="FFB45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"/>
          <p:cNvSpPr/>
          <p:nvPr/>
        </p:nvSpPr>
        <p:spPr>
          <a:xfrm>
            <a:off x="5120640" y="1938240"/>
            <a:ext cx="438840" cy="585360"/>
          </a:xfrm>
          <a:prstGeom prst="line">
            <a:avLst/>
          </a:prstGeom>
          <a:ln w="15120">
            <a:solidFill>
              <a:srgbClr val="FFB45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1051560" y="2633400"/>
            <a:ext cx="310680" cy="310680"/>
          </a:xfrm>
          <a:prstGeom prst="ellipse">
            <a:avLst/>
          </a:prstGeom>
          <a:solidFill>
            <a:srgbClr val="33D1C0"/>
          </a:solidFill>
          <a:ln w="12600">
            <a:solidFill>
              <a:srgbClr val="33D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8"/>
          <p:cNvSpPr/>
          <p:nvPr/>
        </p:nvSpPr>
        <p:spPr>
          <a:xfrm>
            <a:off x="2030040" y="2633400"/>
            <a:ext cx="310680" cy="310680"/>
          </a:xfrm>
          <a:prstGeom prst="ellipse">
            <a:avLst/>
          </a:prstGeom>
          <a:solidFill>
            <a:srgbClr val="33D1C0"/>
          </a:solidFill>
          <a:ln w="12600">
            <a:solidFill>
              <a:srgbClr val="33D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9"/>
          <p:cNvSpPr/>
          <p:nvPr/>
        </p:nvSpPr>
        <p:spPr>
          <a:xfrm>
            <a:off x="3008520" y="2633400"/>
            <a:ext cx="310680" cy="310680"/>
          </a:xfrm>
          <a:prstGeom prst="ellipse">
            <a:avLst/>
          </a:prstGeom>
          <a:solidFill>
            <a:srgbClr val="33D1C0"/>
          </a:solidFill>
          <a:ln w="12600">
            <a:solidFill>
              <a:srgbClr val="33D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3986640" y="2633400"/>
            <a:ext cx="310680" cy="310680"/>
          </a:xfrm>
          <a:prstGeom prst="ellipse">
            <a:avLst/>
          </a:prstGeom>
          <a:solidFill>
            <a:srgbClr val="33D1C0"/>
          </a:solidFill>
          <a:ln w="12600">
            <a:solidFill>
              <a:srgbClr val="33D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1"/>
          <p:cNvSpPr/>
          <p:nvPr/>
        </p:nvSpPr>
        <p:spPr>
          <a:xfrm>
            <a:off x="5742360" y="2633400"/>
            <a:ext cx="310680" cy="310680"/>
          </a:xfrm>
          <a:prstGeom prst="ellipse">
            <a:avLst/>
          </a:prstGeom>
          <a:solidFill>
            <a:srgbClr val="33D1C0"/>
          </a:solidFill>
          <a:ln w="12600">
            <a:solidFill>
              <a:srgbClr val="33D1C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2"/>
          <p:cNvSpPr/>
          <p:nvPr/>
        </p:nvSpPr>
        <p:spPr>
          <a:xfrm>
            <a:off x="3749040" y="1746360"/>
            <a:ext cx="310680" cy="310680"/>
          </a:xfrm>
          <a:prstGeom prst="ellipse">
            <a:avLst/>
          </a:prstGeom>
          <a:solidFill>
            <a:srgbClr val="FFB454"/>
          </a:solidFill>
          <a:ln w="12600">
            <a:solidFill>
              <a:srgbClr val="FFB45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3"/>
          <p:cNvSpPr/>
          <p:nvPr/>
        </p:nvSpPr>
        <p:spPr>
          <a:xfrm>
            <a:off x="4736520" y="1746360"/>
            <a:ext cx="310680" cy="310680"/>
          </a:xfrm>
          <a:prstGeom prst="ellipse">
            <a:avLst/>
          </a:prstGeom>
          <a:solidFill>
            <a:srgbClr val="FFB454"/>
          </a:solidFill>
          <a:ln w="12600">
            <a:solidFill>
              <a:srgbClr val="FFB45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1005840" y="31273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D1C0"/>
                </a:solidFill>
                <a:effectLst/>
                <a:uFillTx/>
                <a:latin typeface="Aptos"/>
              </a:rPr>
              <a:t>main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3684960" y="140832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feature/mensaje-bienvenida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6"/>
          <p:cNvSpPr/>
          <p:nvPr/>
        </p:nvSpPr>
        <p:spPr>
          <a:xfrm>
            <a:off x="6720840" y="1883520"/>
            <a:ext cx="3977280" cy="123408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switch -c feature/mensaje-bienvenida</a:t>
            </a:r>
            <a:endParaRPr lang="en-US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# editar y confirmar cambios</a:t>
            </a:r>
            <a:endParaRPr lang="en-US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switch main</a:t>
            </a:r>
            <a:endParaRPr lang="en-US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merge feature/mensaje-bienvenida</a:t>
            </a:r>
            <a:endParaRPr lang="en-US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868680" y="45446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B454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8"/>
          <p:cNvSpPr/>
          <p:nvPr/>
        </p:nvSpPr>
        <p:spPr>
          <a:xfrm>
            <a:off x="1170360" y="4526280"/>
            <a:ext cx="536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main suele representar la línea estable.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9"/>
          <p:cNvSpPr/>
          <p:nvPr/>
        </p:nvSpPr>
        <p:spPr>
          <a:xfrm>
            <a:off x="868680" y="49561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B454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0"/>
          <p:cNvSpPr/>
          <p:nvPr/>
        </p:nvSpPr>
        <p:spPr>
          <a:xfrm>
            <a:off x="1170360" y="4937760"/>
            <a:ext cx="536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feature/... se usa para una tarea o cambio específico.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1"/>
          <p:cNvSpPr/>
          <p:nvPr/>
        </p:nvSpPr>
        <p:spPr>
          <a:xfrm>
            <a:off x="868680" y="53676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B454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2"/>
          <p:cNvSpPr/>
          <p:nvPr/>
        </p:nvSpPr>
        <p:spPr>
          <a:xfrm>
            <a:off x="1170360" y="5349240"/>
            <a:ext cx="536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merge combina una rama con otra.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4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5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COLABORACIÓN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Repositorio local y remoto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621720" y="1298520"/>
            <a:ext cx="8869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Git funciona localmente sin Internet. El remoto aparece cuando se quiere compartir o respaldar el trabajo.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960120" y="2395800"/>
            <a:ext cx="2331360" cy="1005480"/>
          </a:xfrm>
          <a:prstGeom prst="rect">
            <a:avLst/>
          </a:prstGeom>
          <a:solidFill>
            <a:srgbClr val="0F3552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Repositorio local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en mi PC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8284320" y="2395800"/>
            <a:ext cx="2331360" cy="1005480"/>
          </a:xfrm>
          <a:prstGeom prst="rect">
            <a:avLst/>
          </a:prstGeom>
          <a:solidFill>
            <a:srgbClr val="0F3552"/>
          </a:solidFill>
          <a:ln w="1404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Repositorio remoto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GitHub / Azure DevOps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3401280" y="2615040"/>
            <a:ext cx="4736880" cy="360"/>
          </a:xfrm>
          <a:prstGeom prst="line">
            <a:avLst/>
          </a:prstGeom>
          <a:ln w="20160">
            <a:solidFill>
              <a:srgbClr val="B5E85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5632560" y="2295000"/>
            <a:ext cx="603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5E853"/>
                </a:solidFill>
                <a:effectLst/>
                <a:uFillTx/>
                <a:latin typeface="Aptos"/>
              </a:rPr>
              <a:t>push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 flipH="1">
            <a:off x="3401280" y="3163680"/>
            <a:ext cx="4736880" cy="360"/>
          </a:xfrm>
          <a:prstGeom prst="line">
            <a:avLst/>
          </a:prstGeom>
          <a:ln w="20160">
            <a:solidFill>
              <a:srgbClr val="64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5385960" y="328284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D9FF"/>
                </a:solidFill>
                <a:effectLst/>
                <a:uFillTx/>
                <a:latin typeface="Aptos"/>
              </a:rPr>
              <a:t>pull / fetch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987480" y="45903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64D9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1289160" y="4572000"/>
            <a:ext cx="7104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clone: copia un remoto por primera vez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987480" y="49744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64D9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1289160" y="4956120"/>
            <a:ext cx="7104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push: publica commits locales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987480" y="53582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64D9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1289160" y="5340240"/>
            <a:ext cx="7104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pull: trae e integra cambios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987480" y="57423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64D9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1289160" y="5724000"/>
            <a:ext cx="7104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fetch: trae información sin integrar automáticamente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9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RUTINA DE TRABAJO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Flujo típico con remoto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"/>
          <p:cNvSpPr/>
          <p:nvPr/>
        </p:nvSpPr>
        <p:spPr>
          <a:xfrm>
            <a:off x="640080" y="2377440"/>
            <a:ext cx="114264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Pull</a:t>
            </a:r>
            <a:endParaRPr lang="en-US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"/>
          <p:cNvSpPr/>
          <p:nvPr/>
        </p:nvSpPr>
        <p:spPr>
          <a:xfrm>
            <a:off x="1828800" y="2642400"/>
            <a:ext cx="292320" cy="360"/>
          </a:xfrm>
          <a:prstGeom prst="line">
            <a:avLst/>
          </a:prstGeom>
          <a:ln w="12600">
            <a:solidFill>
              <a:srgbClr val="8B8C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"/>
          <p:cNvSpPr/>
          <p:nvPr/>
        </p:nvSpPr>
        <p:spPr>
          <a:xfrm>
            <a:off x="2249280" y="2377440"/>
            <a:ext cx="1142640" cy="529920"/>
          </a:xfrm>
          <a:prstGeom prst="rect">
            <a:avLst/>
          </a:prstGeom>
          <a:solidFill>
            <a:srgbClr val="123A56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Branch</a:t>
            </a:r>
            <a:endParaRPr lang="en-US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5"/>
          <p:cNvSpPr/>
          <p:nvPr/>
        </p:nvSpPr>
        <p:spPr>
          <a:xfrm>
            <a:off x="3438000" y="2642400"/>
            <a:ext cx="292680" cy="360"/>
          </a:xfrm>
          <a:prstGeom prst="line">
            <a:avLst/>
          </a:prstGeom>
          <a:ln w="12600">
            <a:solidFill>
              <a:srgbClr val="8B8C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6"/>
          <p:cNvSpPr/>
          <p:nvPr/>
        </p:nvSpPr>
        <p:spPr>
          <a:xfrm>
            <a:off x="3858840" y="2377440"/>
            <a:ext cx="114264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Edit</a:t>
            </a:r>
            <a:endParaRPr lang="en-US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7"/>
          <p:cNvSpPr/>
          <p:nvPr/>
        </p:nvSpPr>
        <p:spPr>
          <a:xfrm>
            <a:off x="5047200" y="2642400"/>
            <a:ext cx="292680" cy="360"/>
          </a:xfrm>
          <a:prstGeom prst="line">
            <a:avLst/>
          </a:prstGeom>
          <a:ln w="12600">
            <a:solidFill>
              <a:srgbClr val="8B8C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8"/>
          <p:cNvSpPr/>
          <p:nvPr/>
        </p:nvSpPr>
        <p:spPr>
          <a:xfrm>
            <a:off x="5468040" y="2377440"/>
            <a:ext cx="1142640" cy="529920"/>
          </a:xfrm>
          <a:prstGeom prst="rect">
            <a:avLst/>
          </a:prstGeom>
          <a:solidFill>
            <a:srgbClr val="123A56"/>
          </a:solidFill>
          <a:ln w="14040">
            <a:solidFill>
              <a:srgbClr val="FFB4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Stage</a:t>
            </a:r>
            <a:endParaRPr lang="en-US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9"/>
          <p:cNvSpPr/>
          <p:nvPr/>
        </p:nvSpPr>
        <p:spPr>
          <a:xfrm>
            <a:off x="6656760" y="2642400"/>
            <a:ext cx="292680" cy="360"/>
          </a:xfrm>
          <a:prstGeom prst="line">
            <a:avLst/>
          </a:prstGeom>
          <a:ln w="12600">
            <a:solidFill>
              <a:srgbClr val="8B8C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0"/>
          <p:cNvSpPr/>
          <p:nvPr/>
        </p:nvSpPr>
        <p:spPr>
          <a:xfrm>
            <a:off x="7077600" y="2377440"/>
            <a:ext cx="114264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Commit</a:t>
            </a:r>
            <a:endParaRPr lang="en-US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1"/>
          <p:cNvSpPr/>
          <p:nvPr/>
        </p:nvSpPr>
        <p:spPr>
          <a:xfrm>
            <a:off x="8265960" y="2642400"/>
            <a:ext cx="292680" cy="360"/>
          </a:xfrm>
          <a:prstGeom prst="line">
            <a:avLst/>
          </a:prstGeom>
          <a:ln w="12600">
            <a:solidFill>
              <a:srgbClr val="8B8C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8686800" y="2377440"/>
            <a:ext cx="1142640" cy="529920"/>
          </a:xfrm>
          <a:prstGeom prst="rect">
            <a:avLst/>
          </a:prstGeom>
          <a:solidFill>
            <a:srgbClr val="123A56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Push</a:t>
            </a:r>
            <a:endParaRPr lang="en-US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3"/>
          <p:cNvSpPr/>
          <p:nvPr/>
        </p:nvSpPr>
        <p:spPr>
          <a:xfrm>
            <a:off x="9875520" y="2642400"/>
            <a:ext cx="292320" cy="360"/>
          </a:xfrm>
          <a:prstGeom prst="line">
            <a:avLst/>
          </a:prstGeom>
          <a:ln w="12600">
            <a:solidFill>
              <a:srgbClr val="8B8C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4"/>
          <p:cNvSpPr/>
          <p:nvPr/>
        </p:nvSpPr>
        <p:spPr>
          <a:xfrm>
            <a:off x="10296000" y="2377440"/>
            <a:ext cx="1142640" cy="529920"/>
          </a:xfrm>
          <a:prstGeom prst="rect">
            <a:avLst/>
          </a:prstGeom>
          <a:solidFill>
            <a:srgbClr val="102A43"/>
          </a:solidFill>
          <a:ln w="14040">
            <a:solidFill>
              <a:srgbClr val="8B8C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Pull Request</a:t>
            </a:r>
            <a:endParaRPr lang="en-US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694800" y="32734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D9FF"/>
                </a:solidFill>
                <a:effectLst/>
                <a:uFillTx/>
                <a:latin typeface="Aptos"/>
              </a:rPr>
              <a:t>Antes de editar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3420000" y="32734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5E853"/>
                </a:solidFill>
                <a:effectLst/>
                <a:uFillTx/>
                <a:latin typeface="Aptos"/>
              </a:rPr>
              <a:t>Durante el cambio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7"/>
          <p:cNvSpPr/>
          <p:nvPr/>
        </p:nvSpPr>
        <p:spPr>
          <a:xfrm>
            <a:off x="7534800" y="327348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Después del commit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8"/>
          <p:cNvSpPr/>
          <p:nvPr/>
        </p:nvSpPr>
        <p:spPr>
          <a:xfrm>
            <a:off x="914400" y="43617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8B8C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1216080" y="4343400"/>
            <a:ext cx="7196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Trabajar en ramas reduce riesgo.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914400" y="47732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8B8C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1216080" y="4754880"/>
            <a:ext cx="7196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Revisar el diff evita commits accidentales.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2"/>
          <p:cNvSpPr/>
          <p:nvPr/>
        </p:nvSpPr>
        <p:spPr>
          <a:xfrm>
            <a:off x="914400" y="51847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8B8CFF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3"/>
          <p:cNvSpPr/>
          <p:nvPr/>
        </p:nvSpPr>
        <p:spPr>
          <a:xfrm>
            <a:off x="1216080" y="5166360"/>
            <a:ext cx="7196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El Pull Request / Merge Request es parte de la revisión del equipo.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4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5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6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BUENAS PRÁCTICAS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.gitignore y secretos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621720" y="129852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No todo lo que está en la carpeta del proyecto debe entrar al repositorio.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841320" y="1965960"/>
            <a:ext cx="4041360" cy="263304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# Archivos temporales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*.log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*.tmp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# Dependencias o generados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node_modules/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dist/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# Configuración sensible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.env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5806440" y="1993320"/>
            <a:ext cx="1142640" cy="493560"/>
          </a:xfrm>
          <a:prstGeom prst="rect">
            <a:avLst/>
          </a:prstGeom>
          <a:solidFill>
            <a:srgbClr val="0F3552"/>
          </a:solidFill>
          <a:ln w="14040">
            <a:solidFill>
              <a:srgbClr val="B5E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Ignorar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5806440" y="27158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6108120" y="2697480"/>
            <a:ext cx="244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logs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5806440" y="30816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6108120" y="3063240"/>
            <a:ext cx="244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temporales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9"/>
          <p:cNvSpPr/>
          <p:nvPr/>
        </p:nvSpPr>
        <p:spPr>
          <a:xfrm>
            <a:off x="5806440" y="34473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6108120" y="3429000"/>
            <a:ext cx="244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dependencias generadas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1"/>
          <p:cNvSpPr/>
          <p:nvPr/>
        </p:nvSpPr>
        <p:spPr>
          <a:xfrm>
            <a:off x="5806440" y="38131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B5E853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6108120" y="3794760"/>
            <a:ext cx="244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archivos locales de IDE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3"/>
          <p:cNvSpPr/>
          <p:nvPr/>
        </p:nvSpPr>
        <p:spPr>
          <a:xfrm>
            <a:off x="8668440" y="1993320"/>
            <a:ext cx="1691280" cy="493560"/>
          </a:xfrm>
          <a:prstGeom prst="rect">
            <a:avLst/>
          </a:prstGeom>
          <a:solidFill>
            <a:srgbClr val="3A1830"/>
          </a:solidFill>
          <a:ln w="1404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Nunca versionar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4"/>
          <p:cNvSpPr/>
          <p:nvPr/>
        </p:nvSpPr>
        <p:spPr>
          <a:xfrm>
            <a:off x="8668440" y="27158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6B6B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8970120" y="2697480"/>
            <a:ext cx="244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passwords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6"/>
          <p:cNvSpPr/>
          <p:nvPr/>
        </p:nvSpPr>
        <p:spPr>
          <a:xfrm>
            <a:off x="8668440" y="30816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6B6B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7"/>
          <p:cNvSpPr/>
          <p:nvPr/>
        </p:nvSpPr>
        <p:spPr>
          <a:xfrm>
            <a:off x="8970120" y="3063240"/>
            <a:ext cx="244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API keys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8"/>
          <p:cNvSpPr/>
          <p:nvPr/>
        </p:nvSpPr>
        <p:spPr>
          <a:xfrm>
            <a:off x="8668440" y="34473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6B6B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9"/>
          <p:cNvSpPr/>
          <p:nvPr/>
        </p:nvSpPr>
        <p:spPr>
          <a:xfrm>
            <a:off x="8970120" y="3429000"/>
            <a:ext cx="244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tokens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0"/>
          <p:cNvSpPr/>
          <p:nvPr/>
        </p:nvSpPr>
        <p:spPr>
          <a:xfrm>
            <a:off x="8668440" y="38131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6B6B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1"/>
          <p:cNvSpPr/>
          <p:nvPr/>
        </p:nvSpPr>
        <p:spPr>
          <a:xfrm>
            <a:off x="8970120" y="3794760"/>
            <a:ext cx="244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certificados privados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2"/>
          <p:cNvSpPr/>
          <p:nvPr/>
        </p:nvSpPr>
        <p:spPr>
          <a:xfrm>
            <a:off x="5806440" y="4883040"/>
            <a:ext cx="4663080" cy="62136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Si un secreto fue subido al repositorio, borrarlo en un commit posterior no necesariamente lo elimina del historial.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3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4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5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MERGE CONFLICT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Conflictos: cuando Git no puede decidir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"/>
          <p:cNvSpPr/>
          <p:nvPr/>
        </p:nvSpPr>
        <p:spPr>
          <a:xfrm>
            <a:off x="621720" y="1298520"/>
            <a:ext cx="8869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Un conflicto ocurre cuando dos cambios afectan la misma parte del mismo archivo de forma incompatible.</a:t>
            </a:r>
            <a:endParaRPr lang="en-US" sz="1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"/>
          <p:cNvSpPr/>
          <p:nvPr/>
        </p:nvSpPr>
        <p:spPr>
          <a:xfrm>
            <a:off x="841320" y="2249280"/>
            <a:ext cx="2285640" cy="804240"/>
          </a:xfrm>
          <a:prstGeom prst="rect">
            <a:avLst/>
          </a:prstGeom>
          <a:solidFill>
            <a:srgbClr val="102A43"/>
          </a:solidFill>
          <a:ln w="1404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Versión A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Línea modificada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"/>
          <p:cNvSpPr/>
          <p:nvPr/>
        </p:nvSpPr>
        <p:spPr>
          <a:xfrm>
            <a:off x="841320" y="3511440"/>
            <a:ext cx="2285640" cy="804240"/>
          </a:xfrm>
          <a:prstGeom prst="rect">
            <a:avLst/>
          </a:prstGeom>
          <a:solidFill>
            <a:srgbClr val="102A43"/>
          </a:solidFill>
          <a:ln w="14040">
            <a:solidFill>
              <a:srgbClr val="FFB4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Versión B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Línea modificada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5"/>
          <p:cNvSpPr/>
          <p:nvPr/>
        </p:nvSpPr>
        <p:spPr>
          <a:xfrm>
            <a:off x="3246120" y="2669760"/>
            <a:ext cx="1380600" cy="512280"/>
          </a:xfrm>
          <a:prstGeom prst="line">
            <a:avLst/>
          </a:prstGeom>
          <a:ln w="15120">
            <a:solidFill>
              <a:srgbClr val="64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6"/>
          <p:cNvSpPr/>
          <p:nvPr/>
        </p:nvSpPr>
        <p:spPr>
          <a:xfrm flipV="1">
            <a:off x="3246120" y="3355560"/>
            <a:ext cx="1380600" cy="558000"/>
          </a:xfrm>
          <a:prstGeom prst="line">
            <a:avLst/>
          </a:prstGeom>
          <a:ln w="15120">
            <a:solidFill>
              <a:srgbClr val="FFB45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4800600" y="2834640"/>
            <a:ext cx="2194200" cy="877320"/>
          </a:xfrm>
          <a:prstGeom prst="rect">
            <a:avLst/>
          </a:prstGeom>
          <a:solidFill>
            <a:srgbClr val="351B2A"/>
          </a:solidFill>
          <a:ln w="1404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Decisión humana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combinar o elegir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8"/>
          <p:cNvSpPr/>
          <p:nvPr/>
        </p:nvSpPr>
        <p:spPr>
          <a:xfrm>
            <a:off x="7635240" y="22860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1" u="none" strike="noStrike">
                <a:solidFill>
                  <a:srgbClr val="FF6B6B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9"/>
          <p:cNvSpPr/>
          <p:nvPr/>
        </p:nvSpPr>
        <p:spPr>
          <a:xfrm>
            <a:off x="7936920" y="2267640"/>
            <a:ext cx="3355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Leer ambas versiones.</a:t>
            </a:r>
            <a:endParaRPr lang="en-US" sz="14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0"/>
          <p:cNvSpPr/>
          <p:nvPr/>
        </p:nvSpPr>
        <p:spPr>
          <a:xfrm>
            <a:off x="7635240" y="27248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1" u="none" strike="noStrike">
                <a:solidFill>
                  <a:srgbClr val="FF6B6B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1"/>
          <p:cNvSpPr/>
          <p:nvPr/>
        </p:nvSpPr>
        <p:spPr>
          <a:xfrm>
            <a:off x="7936920" y="2706480"/>
            <a:ext cx="3355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Elegir el contenido correcto o combinar manualmente.</a:t>
            </a:r>
            <a:endParaRPr lang="en-US" sz="14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2"/>
          <p:cNvSpPr/>
          <p:nvPr/>
        </p:nvSpPr>
        <p:spPr>
          <a:xfrm>
            <a:off x="7635240" y="31636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1" u="none" strike="noStrike">
                <a:solidFill>
                  <a:srgbClr val="FF6B6B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3"/>
          <p:cNvSpPr/>
          <p:nvPr/>
        </p:nvSpPr>
        <p:spPr>
          <a:xfrm>
            <a:off x="7936920" y="3145680"/>
            <a:ext cx="3355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Guardar el archivo resuelto.</a:t>
            </a:r>
            <a:endParaRPr lang="en-US" sz="14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4"/>
          <p:cNvSpPr/>
          <p:nvPr/>
        </p:nvSpPr>
        <p:spPr>
          <a:xfrm>
            <a:off x="7635240" y="36028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1" u="none" strike="noStrike">
                <a:solidFill>
                  <a:srgbClr val="FF6B6B"/>
                </a:solidFill>
                <a:effectLst/>
                <a:uFillTx/>
                <a:latin typeface="Aptos"/>
                <a:ea typeface="Aptos"/>
              </a:rPr>
              <a:t>•</a:t>
            </a:r>
            <a:endParaRPr lang="en-US" sz="1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5"/>
          <p:cNvSpPr/>
          <p:nvPr/>
        </p:nvSpPr>
        <p:spPr>
          <a:xfrm>
            <a:off x="7936920" y="3584520"/>
            <a:ext cx="3355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Hacer stage para indicar que el conflicto quedó resuelto.</a:t>
            </a:r>
            <a:endParaRPr lang="en-US" sz="14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6"/>
          <p:cNvSpPr/>
          <p:nvPr/>
        </p:nvSpPr>
        <p:spPr>
          <a:xfrm>
            <a:off x="932760" y="5166360"/>
            <a:ext cx="6400440" cy="47520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VS Code ayuda a resolver conflictos, pero no decide el contenido de negocio por usted.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7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8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9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HÁBITOS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Buenas prácticas desde el primer día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"/>
          <p:cNvSpPr/>
          <p:nvPr/>
        </p:nvSpPr>
        <p:spPr>
          <a:xfrm>
            <a:off x="804600" y="19018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3D1C0"/>
                </a:solidFill>
                <a:effectLst/>
                <a:uFillTx/>
                <a:latin typeface="Aptos Display"/>
                <a:ea typeface="Aptos Display"/>
              </a:rPr>
              <a:t>Commits pequeños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"/>
          <p:cNvSpPr/>
          <p:nvPr/>
        </p:nvSpPr>
        <p:spPr>
          <a:xfrm>
            <a:off x="804600" y="23133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Una unidad lógica de trabajo por commit.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4553640" y="19018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B5E853"/>
                </a:solidFill>
                <a:effectLst/>
                <a:uFillTx/>
                <a:latin typeface="Aptos Display"/>
                <a:ea typeface="Aptos Display"/>
              </a:rPr>
              <a:t>Mensajes claros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5"/>
          <p:cNvSpPr/>
          <p:nvPr/>
        </p:nvSpPr>
        <p:spPr>
          <a:xfrm>
            <a:off x="4553640" y="23133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Describir qué cambió, no solo “fix”.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6"/>
          <p:cNvSpPr/>
          <p:nvPr/>
        </p:nvSpPr>
        <p:spPr>
          <a:xfrm>
            <a:off x="8302680" y="19018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B454"/>
                </a:solidFill>
                <a:effectLst/>
                <a:uFillTx/>
                <a:latin typeface="Aptos Display"/>
                <a:ea typeface="Aptos Display"/>
              </a:rPr>
              <a:t>Revisar diff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8302680" y="23133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Validar antes de confirmar.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804600" y="3328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8CFF"/>
                </a:solidFill>
                <a:effectLst/>
                <a:uFillTx/>
                <a:latin typeface="Aptos Display"/>
                <a:ea typeface="Aptos Display"/>
              </a:rPr>
              <a:t>No trabajar siempre en main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9"/>
          <p:cNvSpPr/>
          <p:nvPr/>
        </p:nvSpPr>
        <p:spPr>
          <a:xfrm>
            <a:off x="804600" y="37400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Usar ramas cuando el equipo lo requiera.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4553640" y="3328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4D9FF"/>
                </a:solidFill>
                <a:effectLst/>
                <a:uFillTx/>
                <a:latin typeface="Aptos Display"/>
                <a:ea typeface="Aptos Display"/>
              </a:rPr>
              <a:t>Pull frecuente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4553640" y="37400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Evita sorpresas al publicar cambios.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2"/>
          <p:cNvSpPr/>
          <p:nvPr/>
        </p:nvSpPr>
        <p:spPr>
          <a:xfrm>
            <a:off x="8302680" y="3328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6B6B"/>
                </a:solidFill>
                <a:effectLst/>
                <a:uFillTx/>
                <a:latin typeface="Aptos Display"/>
                <a:ea typeface="Aptos Display"/>
              </a:rPr>
              <a:t>No subir secretos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3"/>
          <p:cNvSpPr/>
          <p:nvPr/>
        </p:nvSpPr>
        <p:spPr>
          <a:xfrm>
            <a:off x="8302680" y="37400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Usar .gitignore y configuración local.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4"/>
          <p:cNvSpPr/>
          <p:nvPr/>
        </p:nvSpPr>
        <p:spPr>
          <a:xfrm>
            <a:off x="822960" y="5248800"/>
            <a:ext cx="5668920" cy="47520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33D1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La calidad del historial depende más de disciplina que de comandos avanzados.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5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6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7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TROUBLESHOOTING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Problemas frecuentes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621720" y="129852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Durante la primera clase, casi todos los errores caen en estas categorías.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841320" y="20116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1161360" y="201168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VS Code dice que Git no está instalado: cerrar y reabrir VS Code.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841320" y="25236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1161360" y="252360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 no se reconoce: revisar PATH o reinstalar Git.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841320" y="30358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1161360" y="303588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 pide nombre/email: configurar user.name y user.email.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841320" y="3547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1161360" y="354780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No aparece Initialize Repository: abrir una carpeta, no solo un archivo.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841320" y="40600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1161360" y="406008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Archivo no aparece en Source Control: revisar ubicación y .gitignore.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3"/>
          <p:cNvSpPr/>
          <p:nvPr/>
        </p:nvSpPr>
        <p:spPr>
          <a:xfrm>
            <a:off x="6949440" y="2148840"/>
            <a:ext cx="3474360" cy="1115280"/>
          </a:xfrm>
          <a:prstGeom prst="rect">
            <a:avLst/>
          </a:prstGeom>
          <a:solidFill>
            <a:srgbClr val="07111C"/>
          </a:solidFill>
          <a:ln w="12600">
            <a:solidFill>
              <a:srgbClr val="2F4C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--version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status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6E7FF"/>
                </a:solidFill>
                <a:effectLst/>
                <a:uFillTx/>
                <a:latin typeface="Cascadia Mono"/>
                <a:ea typeface="Cascadia Mono"/>
              </a:rPr>
              <a:t>git config --global --list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6949440" y="4096440"/>
            <a:ext cx="3245760" cy="61236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FFB4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Diagnóstico base: validar instalación, carpeta abierta y estado del repositorio.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18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ANTES DE PRACTICAR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Checklist de inicio del curso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868680" y="19202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5E853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1188720" y="192024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VS Code instalado y abre correctamente.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868680" y="25146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5E853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1188720" y="251460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Git instalado: git --version responde.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868680" y="3108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5E853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1188720" y="310896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user.name configurado.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868680" y="37033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5E853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1188720" y="370332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user.email configurado.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868680" y="42976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5E853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1188720" y="429768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Puede abrir una carpeta en VS Code.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2"/>
          <p:cNvSpPr/>
          <p:nvPr/>
        </p:nvSpPr>
        <p:spPr>
          <a:xfrm>
            <a:off x="6446520" y="19202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D9FF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6766560" y="192024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Source Control abre con Ctrl+Shift+G.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4"/>
          <p:cNvSpPr/>
          <p:nvPr/>
        </p:nvSpPr>
        <p:spPr>
          <a:xfrm>
            <a:off x="6446520" y="25146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D9FF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5"/>
          <p:cNvSpPr/>
          <p:nvPr/>
        </p:nvSpPr>
        <p:spPr>
          <a:xfrm>
            <a:off x="6766560" y="251460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Puede inicializar un repositorio.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6"/>
          <p:cNvSpPr/>
          <p:nvPr/>
        </p:nvSpPr>
        <p:spPr>
          <a:xfrm>
            <a:off x="6446520" y="3108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D9FF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7"/>
          <p:cNvSpPr/>
          <p:nvPr/>
        </p:nvSpPr>
        <p:spPr>
          <a:xfrm>
            <a:off x="6766560" y="310896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Puede explicar Changes vs Staged Changes.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8"/>
          <p:cNvSpPr/>
          <p:nvPr/>
        </p:nvSpPr>
        <p:spPr>
          <a:xfrm>
            <a:off x="6446520" y="37033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D9FF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9"/>
          <p:cNvSpPr/>
          <p:nvPr/>
        </p:nvSpPr>
        <p:spPr>
          <a:xfrm>
            <a:off x="6766560" y="370332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Puede crear un commit.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0"/>
          <p:cNvSpPr/>
          <p:nvPr/>
        </p:nvSpPr>
        <p:spPr>
          <a:xfrm>
            <a:off x="6446520" y="42976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D9FF"/>
                </a:solidFill>
                <a:effectLst/>
                <a:uFillTx/>
                <a:latin typeface="Aptos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1"/>
          <p:cNvSpPr/>
          <p:nvPr/>
        </p:nvSpPr>
        <p:spPr>
          <a:xfrm>
            <a:off x="6766560" y="429768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Puede revisar historial de commits.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2"/>
          <p:cNvSpPr/>
          <p:nvPr/>
        </p:nvSpPr>
        <p:spPr>
          <a:xfrm>
            <a:off x="868680" y="5440680"/>
            <a:ext cx="5943240" cy="438480"/>
          </a:xfrm>
          <a:prstGeom prst="rect">
            <a:avLst/>
          </a:prstGeom>
          <a:solidFill>
            <a:srgbClr val="12314D">
              <a:alpha val="95000"/>
            </a:srgbClr>
          </a:solidFill>
          <a:ln w="15120">
            <a:solidFill>
              <a:srgbClr val="64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6FAFF"/>
                </a:solidFill>
                <a:effectLst/>
                <a:uFillTx/>
                <a:latin typeface="Aptos"/>
                <a:ea typeface="Aptos"/>
              </a:rPr>
              <a:t>Este checklist evita perder tiempo con instalación durante el laboratorio.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3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4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19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5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/>
          <p:nvPr/>
        </p:nvSpPr>
        <p:spPr>
          <a:xfrm>
            <a:off x="594360" y="4388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33D1C0"/>
                </a:solidFill>
                <a:effectLst/>
                <a:uFillTx/>
                <a:latin typeface="Aptos"/>
                <a:ea typeface="Aptos"/>
              </a:rPr>
              <a:t>CIERRE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"/>
          <p:cNvSpPr/>
          <p:nvPr/>
        </p:nvSpPr>
        <p:spPr>
          <a:xfrm>
            <a:off x="594360" y="667440"/>
            <a:ext cx="8137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Preguntas de repaso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"/>
          <p:cNvSpPr/>
          <p:nvPr/>
        </p:nvSpPr>
        <p:spPr>
          <a:xfrm>
            <a:off x="868680" y="175572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D1C0"/>
                </a:solidFill>
                <a:effectLst/>
                <a:uFillTx/>
                <a:latin typeface="Aptos Display"/>
                <a:ea typeface="Aptos Display"/>
              </a:rPr>
              <a:t>1.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3"/>
          <p:cNvSpPr/>
          <p:nvPr/>
        </p:nvSpPr>
        <p:spPr>
          <a:xfrm>
            <a:off x="1280160" y="1755720"/>
            <a:ext cx="44344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¿Cuál es la diferencia entre Git y GitHub?</a:t>
            </a:r>
            <a:endParaRPr lang="en-US" sz="1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"/>
          <p:cNvSpPr/>
          <p:nvPr/>
        </p:nvSpPr>
        <p:spPr>
          <a:xfrm>
            <a:off x="6355080" y="175572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5E853"/>
                </a:solidFill>
                <a:effectLst/>
                <a:uFillTx/>
                <a:latin typeface="Aptos Display"/>
                <a:ea typeface="Aptos Display"/>
              </a:rPr>
              <a:t>2.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"/>
          <p:cNvSpPr/>
          <p:nvPr/>
        </p:nvSpPr>
        <p:spPr>
          <a:xfrm>
            <a:off x="6766560" y="1755720"/>
            <a:ext cx="44344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¿Qué diferencia existe entre guardar un archivo y crear un commit?</a:t>
            </a:r>
            <a:endParaRPr lang="en-US" sz="1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6"/>
          <p:cNvSpPr/>
          <p:nvPr/>
        </p:nvSpPr>
        <p:spPr>
          <a:xfrm>
            <a:off x="868680" y="256032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B454"/>
                </a:solidFill>
                <a:effectLst/>
                <a:uFillTx/>
                <a:latin typeface="Aptos Display"/>
                <a:ea typeface="Aptos Display"/>
              </a:rPr>
              <a:t>3.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7"/>
          <p:cNvSpPr/>
          <p:nvPr/>
        </p:nvSpPr>
        <p:spPr>
          <a:xfrm>
            <a:off x="1280160" y="2560320"/>
            <a:ext cx="44344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¿Para qué sirve el staging area?</a:t>
            </a:r>
            <a:endParaRPr lang="en-US" sz="1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8"/>
          <p:cNvSpPr/>
          <p:nvPr/>
        </p:nvSpPr>
        <p:spPr>
          <a:xfrm>
            <a:off x="6355080" y="256032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B8CFF"/>
                </a:solidFill>
                <a:effectLst/>
                <a:uFillTx/>
                <a:latin typeface="Aptos Display"/>
                <a:ea typeface="Aptos Display"/>
              </a:rPr>
              <a:t>4.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9"/>
          <p:cNvSpPr/>
          <p:nvPr/>
        </p:nvSpPr>
        <p:spPr>
          <a:xfrm>
            <a:off x="6766560" y="2560320"/>
            <a:ext cx="44344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¿Qué información registra un commit?</a:t>
            </a:r>
            <a:endParaRPr lang="en-US" sz="1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0"/>
          <p:cNvSpPr/>
          <p:nvPr/>
        </p:nvSpPr>
        <p:spPr>
          <a:xfrm>
            <a:off x="868680" y="336492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3D1C0"/>
                </a:solidFill>
                <a:effectLst/>
                <a:uFillTx/>
                <a:latin typeface="Aptos Display"/>
                <a:ea typeface="Aptos Display"/>
              </a:rPr>
              <a:t>5.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1"/>
          <p:cNvSpPr/>
          <p:nvPr/>
        </p:nvSpPr>
        <p:spPr>
          <a:xfrm>
            <a:off x="1280160" y="3364920"/>
            <a:ext cx="44344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¿Qué diferencia existe entre push y pull?</a:t>
            </a:r>
            <a:endParaRPr lang="en-US" sz="1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2"/>
          <p:cNvSpPr/>
          <p:nvPr/>
        </p:nvSpPr>
        <p:spPr>
          <a:xfrm>
            <a:off x="6355080" y="336492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5E853"/>
                </a:solidFill>
                <a:effectLst/>
                <a:uFillTx/>
                <a:latin typeface="Aptos Display"/>
                <a:ea typeface="Aptos Display"/>
              </a:rPr>
              <a:t>6.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3"/>
          <p:cNvSpPr/>
          <p:nvPr/>
        </p:nvSpPr>
        <p:spPr>
          <a:xfrm>
            <a:off x="6766560" y="3364920"/>
            <a:ext cx="44344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¿Para qué sirve .gitignore?</a:t>
            </a:r>
            <a:endParaRPr lang="en-US" sz="1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4"/>
          <p:cNvSpPr/>
          <p:nvPr/>
        </p:nvSpPr>
        <p:spPr>
          <a:xfrm>
            <a:off x="868680" y="416952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B454"/>
                </a:solidFill>
                <a:effectLst/>
                <a:uFillTx/>
                <a:latin typeface="Aptos Display"/>
                <a:ea typeface="Aptos Display"/>
              </a:rPr>
              <a:t>7.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5"/>
          <p:cNvSpPr/>
          <p:nvPr/>
        </p:nvSpPr>
        <p:spPr>
          <a:xfrm>
            <a:off x="1280160" y="4169520"/>
            <a:ext cx="44344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¿Qué comando usaría primero para revisar el estado del repositorio?</a:t>
            </a:r>
            <a:endParaRPr lang="en-US" sz="1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6"/>
          <p:cNvSpPr/>
          <p:nvPr/>
        </p:nvSpPr>
        <p:spPr>
          <a:xfrm>
            <a:off x="6355080" y="416952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B8CFF"/>
                </a:solidFill>
                <a:effectLst/>
                <a:uFillTx/>
                <a:latin typeface="Aptos Display"/>
                <a:ea typeface="Aptos Display"/>
              </a:rPr>
              <a:t>8.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7"/>
          <p:cNvSpPr/>
          <p:nvPr/>
        </p:nvSpPr>
        <p:spPr>
          <a:xfrm>
            <a:off x="6766560" y="4169520"/>
            <a:ext cx="44344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F6FAFF"/>
                </a:solidFill>
                <a:effectLst/>
                <a:uFillTx/>
                <a:latin typeface="Aptos"/>
              </a:rPr>
              <a:t>¿Qué significa merge conflict?</a:t>
            </a:r>
            <a:endParaRPr lang="en-US" sz="1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8"/>
          <p:cNvSpPr/>
          <p:nvPr/>
        </p:nvSpPr>
        <p:spPr>
          <a:xfrm>
            <a:off x="914400" y="5532120"/>
            <a:ext cx="8777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FC0D2"/>
                </a:solidFill>
                <a:effectLst/>
                <a:uFillTx/>
                <a:latin typeface="Aptos"/>
              </a:rPr>
              <a:t>Siguiente paso sugerido: conectar el repositorio local con un remoto y practicar clone / pull / push.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9"/>
          <p:cNvSpPr/>
          <p:nvPr/>
        </p:nvSpPr>
        <p:spPr>
          <a:xfrm>
            <a:off x="502920" y="6528960"/>
            <a:ext cx="5028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Fundamentos de Git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0"/>
          <p:cNvSpPr/>
          <p:nvPr/>
        </p:nvSpPr>
        <p:spPr>
          <a:xfrm>
            <a:off x="11155680" y="64832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F8396"/>
                </a:solidFill>
                <a:effectLst/>
                <a:uFillTx/>
                <a:latin typeface="Aptos"/>
                <a:ea typeface="Aptos"/>
              </a:rPr>
              <a:t>20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1"/>
          <p:cNvSpPr/>
          <p:nvPr/>
        </p:nvSpPr>
        <p:spPr>
          <a:xfrm>
            <a:off x="502920" y="6364080"/>
            <a:ext cx="11155680" cy="360"/>
          </a:xfrm>
          <a:prstGeom prst="line">
            <a:avLst/>
          </a:prstGeom>
          <a:ln w="6480">
            <a:solidFill>
              <a:srgbClr val="2F4C66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1744</Words>
  <Application>Microsoft Office PowerPoint</Application>
  <PresentationFormat>Widescreen</PresentationFormat>
  <Paragraphs>418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Cascadia Mono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Meoño</dc:creator>
  <cp:lastModifiedBy>Gerardo Meoño</cp:lastModifiedBy>
  <cp:revision>1</cp:revision>
  <dcterms:modified xsi:type="dcterms:W3CDTF">2026-09-22T00:20:14Z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2026-09-21T21:25:50Z</dcterms:created>
  <dc:creator>OpenAI</dc:creator>
  <dc:description/>
  <dc:language>en-US</dc:language>
  <cp:lastModifiedBy>OpenAI</cp:lastModifiedBy>
  <dcterms:modified xsi:type="dcterms:W3CDTF">2026-09-21T21:25:50Z</dcterms:modified>
  <cp:revision>1</cp:revision>
  <dc:subject>Fundamentos de Git para principiantes usando Windows y Visual Studio Code</dc:subject>
  <dc:title>Fundamentos de Git con VS Code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20</vt:r8>
  </property>
  <property fmtid="{D5CDD505-2E9C-101B-9397-08002B2CF9AE}" pid="3" name="PresentationFormat">
    <vt:lpwstr>On-screen Show (16:9)</vt:lpwstr>
  </property>
  <property fmtid="{D5CDD505-2E9C-101B-9397-08002B2CF9AE}" pid="4" name="Slides">
    <vt:r8>20</vt:r8>
  </property>
</Properties>
</file>